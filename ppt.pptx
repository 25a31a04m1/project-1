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2" r:id="rId2"/>
    <p:sldId id="282" r:id="rId3"/>
    <p:sldId id="263" r:id="rId4"/>
    <p:sldId id="283" r:id="rId5"/>
    <p:sldId id="258" r:id="rId6"/>
    <p:sldId id="284" r:id="rId7"/>
    <p:sldId id="256" r:id="rId8"/>
    <p:sldId id="257" r:id="rId9"/>
    <p:sldId id="259" r:id="rId10"/>
    <p:sldId id="260" r:id="rId11"/>
    <p:sldId id="261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5F0EF-EEAE-4E61-A33C-F5743DF337AA}" v="292" dt="2025-12-11T14:28:47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i="1" u="sng" dirty="0"/>
              <a:t>SURVEY: HOW HOSPITAL PATIENT RECORD SYSTEM ARE USEFUL</a:t>
            </a:r>
          </a:p>
          <a:p>
            <a:pPr>
              <a:defRPr/>
            </a:pPr>
            <a:endParaRPr lang="en-IN" i="1" u="sng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Sheet1!$A$2:$A$6</c:f>
              <c:strCache>
                <c:ptCount val="5"/>
                <c:pt idx="0">
                  <c:v>IMPROVED QUALITY OF PATIENT CARE</c:v>
                </c:pt>
                <c:pt idx="1">
                  <c:v>EFFICIENCY AND FASTER ACCESS</c:v>
                </c:pt>
                <c:pt idx="2">
                  <c:v>PATIENT SAFETY (REDUCED ERRORS)</c:v>
                </c:pt>
                <c:pt idx="3">
                  <c:v>BETTER COMMUNICATION/COORDINATION</c:v>
                </c:pt>
                <c:pt idx="4">
                  <c:v>COST SAVINGS AND ADMIN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0.35</c:v>
                </c:pt>
                <c:pt idx="1">
                  <c:v>0.25</c:v>
                </c:pt>
                <c:pt idx="2">
                  <c:v>0.2</c:v>
                </c:pt>
                <c:pt idx="3">
                  <c:v>0.12</c:v>
                </c:pt>
                <c:pt idx="4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09-4032-A07B-00D302888C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Sheet1!$A$2:$A$6</c:f>
              <c:strCache>
                <c:ptCount val="5"/>
                <c:pt idx="0">
                  <c:v>IMPROVED QUALITY OF PATIENT CARE</c:v>
                </c:pt>
                <c:pt idx="1">
                  <c:v>EFFICIENCY AND FASTER ACCESS</c:v>
                </c:pt>
                <c:pt idx="2">
                  <c:v>PATIENT SAFETY (REDUCED ERRORS)</c:v>
                </c:pt>
                <c:pt idx="3">
                  <c:v>BETTER COMMUNICATION/COORDINATION</c:v>
                </c:pt>
                <c:pt idx="4">
                  <c:v>COST SAVINGS AND ADMIN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DE09-4032-A07B-00D302888CC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noFill/>
            <a:ln w="9525" cap="flat" cmpd="sng" algn="ctr">
              <a:solidFill>
                <a:schemeClr val="accent3"/>
              </a:solidFill>
              <a:miter lim="800000"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Sheet1!$A$2:$A$6</c:f>
              <c:strCache>
                <c:ptCount val="5"/>
                <c:pt idx="0">
                  <c:v>IMPROVED QUALITY OF PATIENT CARE</c:v>
                </c:pt>
                <c:pt idx="1">
                  <c:v>EFFICIENCY AND FASTER ACCESS</c:v>
                </c:pt>
                <c:pt idx="2">
                  <c:v>PATIENT SAFETY (REDUCED ERRORS)</c:v>
                </c:pt>
                <c:pt idx="3">
                  <c:v>BETTER COMMUNICATION/COORDINATION</c:v>
                </c:pt>
                <c:pt idx="4">
                  <c:v>COST SAVINGS AND ADMIN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DE09-4032-A07B-00D302888C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50"/>
        <c:axId val="284789920"/>
        <c:axId val="284786080"/>
      </c:barChart>
      <c:catAx>
        <c:axId val="28478992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786080"/>
        <c:crosses val="autoZero"/>
        <c:auto val="1"/>
        <c:lblAlgn val="ctr"/>
        <c:lblOffset val="100"/>
        <c:noMultiLvlLbl val="0"/>
      </c:catAx>
      <c:valAx>
        <c:axId val="28478608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78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9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dk1">
                <a:lumMod val="65000"/>
                <a:lumOff val="35000"/>
              </a:schemeClr>
            </a:gs>
            <a:gs pos="100000">
              <a:schemeClr val="dk1">
                <a:lumMod val="75000"/>
                <a:lumOff val="25000"/>
              </a:schemeClr>
            </a:gs>
          </a:gsLst>
          <a:lin ang="10800000" scaled="0"/>
        </a:gradFill>
        <a:round/>
      </a:ln>
      <a:effectLst/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C2CB8-87CC-45AD-8034-F1795B8744E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977B301-FF2D-4F4A-8AFD-922C4FCFDA5A}">
      <dgm:prSet/>
      <dgm:spPr/>
      <dgm:t>
        <a:bodyPr/>
        <a:lstStyle/>
        <a:p>
          <a:r>
            <a:rPr lang="en-IN" b="1"/>
            <a:t>Theory: </a:t>
          </a:r>
          <a:r>
            <a:rPr lang="en-IN"/>
            <a:t>The struct keyword allows you to create a Composite Data Type</a:t>
          </a:r>
          <a:r>
            <a:rPr lang="en-IN" b="1"/>
            <a:t>.</a:t>
          </a:r>
          <a:endParaRPr lang="en-IN"/>
        </a:p>
      </dgm:t>
    </dgm:pt>
    <dgm:pt modelId="{D17C8F79-869D-43DA-81B4-04858A20B839}" type="parTrans" cxnId="{25164D3C-7AA3-4475-A8C3-C420E20309A1}">
      <dgm:prSet/>
      <dgm:spPr/>
      <dgm:t>
        <a:bodyPr/>
        <a:lstStyle/>
        <a:p>
          <a:endParaRPr lang="en-IN"/>
        </a:p>
      </dgm:t>
    </dgm:pt>
    <dgm:pt modelId="{B8E95F38-ABB1-42FA-BE3D-4893242BBE2B}" type="sibTrans" cxnId="{25164D3C-7AA3-4475-A8C3-C420E20309A1}">
      <dgm:prSet/>
      <dgm:spPr/>
      <dgm:t>
        <a:bodyPr/>
        <a:lstStyle/>
        <a:p>
          <a:endParaRPr lang="en-IN"/>
        </a:p>
      </dgm:t>
    </dgm:pt>
    <dgm:pt modelId="{DE412B44-2A2C-4A58-BDAE-9522DCF336E5}" type="pres">
      <dgm:prSet presAssocID="{924C2CB8-87CC-45AD-8034-F1795B8744E7}" presName="Name0" presStyleCnt="0">
        <dgm:presLayoutVars>
          <dgm:dir/>
          <dgm:resizeHandles val="exact"/>
        </dgm:presLayoutVars>
      </dgm:prSet>
      <dgm:spPr/>
    </dgm:pt>
    <dgm:pt modelId="{BAF3ADFD-3598-4327-A7F9-E4863EAF672C}" type="pres">
      <dgm:prSet presAssocID="{C977B301-FF2D-4F4A-8AFD-922C4FCFDA5A}" presName="node" presStyleLbl="node1" presStyleIdx="0" presStyleCnt="1">
        <dgm:presLayoutVars>
          <dgm:bulletEnabled val="1"/>
        </dgm:presLayoutVars>
      </dgm:prSet>
      <dgm:spPr/>
    </dgm:pt>
  </dgm:ptLst>
  <dgm:cxnLst>
    <dgm:cxn modelId="{25164D3C-7AA3-4475-A8C3-C420E20309A1}" srcId="{924C2CB8-87CC-45AD-8034-F1795B8744E7}" destId="{C977B301-FF2D-4F4A-8AFD-922C4FCFDA5A}" srcOrd="0" destOrd="0" parTransId="{D17C8F79-869D-43DA-81B4-04858A20B839}" sibTransId="{B8E95F38-ABB1-42FA-BE3D-4893242BBE2B}"/>
    <dgm:cxn modelId="{3B7AE457-B4B9-48A8-9D0A-308AF7573A20}" type="presOf" srcId="{C977B301-FF2D-4F4A-8AFD-922C4FCFDA5A}" destId="{BAF3ADFD-3598-4327-A7F9-E4863EAF672C}" srcOrd="0" destOrd="0" presId="urn:microsoft.com/office/officeart/2005/8/layout/process1"/>
    <dgm:cxn modelId="{065E678E-ABD6-46FF-8296-CE8C8675D8BC}" type="presOf" srcId="{924C2CB8-87CC-45AD-8034-F1795B8744E7}" destId="{DE412B44-2A2C-4A58-BDAE-9522DCF336E5}" srcOrd="0" destOrd="0" presId="urn:microsoft.com/office/officeart/2005/8/layout/process1"/>
    <dgm:cxn modelId="{F5D2F65E-7570-4C58-96DF-83C85E542F70}" type="presParOf" srcId="{DE412B44-2A2C-4A58-BDAE-9522DCF336E5}" destId="{BAF3ADFD-3598-4327-A7F9-E4863EAF672C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EB2390-642C-4B41-A93F-13BF26444ED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8F18E27-E05C-4264-A5D0-BF57319E47E1}">
      <dgm:prSet/>
      <dgm:spPr/>
      <dgm:t>
        <a:bodyPr/>
        <a:lstStyle/>
        <a:p>
          <a:r>
            <a:rPr lang="en-IN" b="1"/>
            <a:t>In your code: </a:t>
          </a:r>
          <a:r>
            <a:rPr lang="en-IN"/>
            <a:t>struct Patient is not a variable itself; it is a blueprint (or template).</a:t>
          </a:r>
        </a:p>
      </dgm:t>
    </dgm:pt>
    <dgm:pt modelId="{9D5BF889-E08A-4C6F-B8B7-9A78F8C7A706}" type="parTrans" cxnId="{DA24ABE4-B79E-40F6-9AF0-47DCFAB8105D}">
      <dgm:prSet/>
      <dgm:spPr/>
      <dgm:t>
        <a:bodyPr/>
        <a:lstStyle/>
        <a:p>
          <a:endParaRPr lang="en-IN"/>
        </a:p>
      </dgm:t>
    </dgm:pt>
    <dgm:pt modelId="{4368E4C3-7B85-4011-8E85-48A58AC742FA}" type="sibTrans" cxnId="{DA24ABE4-B79E-40F6-9AF0-47DCFAB8105D}">
      <dgm:prSet/>
      <dgm:spPr/>
      <dgm:t>
        <a:bodyPr/>
        <a:lstStyle/>
        <a:p>
          <a:endParaRPr lang="en-IN"/>
        </a:p>
      </dgm:t>
    </dgm:pt>
    <dgm:pt modelId="{7BAC2316-8045-41EC-9E4A-592441DD351A}" type="pres">
      <dgm:prSet presAssocID="{C1EB2390-642C-4B41-A93F-13BF26444EDE}" presName="Name0" presStyleCnt="0">
        <dgm:presLayoutVars>
          <dgm:dir/>
          <dgm:resizeHandles val="exact"/>
        </dgm:presLayoutVars>
      </dgm:prSet>
      <dgm:spPr/>
    </dgm:pt>
    <dgm:pt modelId="{637FC349-76BF-4074-B171-A78471765271}" type="pres">
      <dgm:prSet presAssocID="{28F18E27-E05C-4264-A5D0-BF57319E47E1}" presName="node" presStyleLbl="node1" presStyleIdx="0" presStyleCnt="1">
        <dgm:presLayoutVars>
          <dgm:bulletEnabled val="1"/>
        </dgm:presLayoutVars>
      </dgm:prSet>
      <dgm:spPr/>
    </dgm:pt>
  </dgm:ptLst>
  <dgm:cxnLst>
    <dgm:cxn modelId="{DA348E0F-F8D0-4B27-9E4B-4A64EADE8F88}" type="presOf" srcId="{C1EB2390-642C-4B41-A93F-13BF26444EDE}" destId="{7BAC2316-8045-41EC-9E4A-592441DD351A}" srcOrd="0" destOrd="0" presId="urn:microsoft.com/office/officeart/2005/8/layout/process1"/>
    <dgm:cxn modelId="{C488854D-3B9A-459D-9815-6EF9B223FEAC}" type="presOf" srcId="{28F18E27-E05C-4264-A5D0-BF57319E47E1}" destId="{637FC349-76BF-4074-B171-A78471765271}" srcOrd="0" destOrd="0" presId="urn:microsoft.com/office/officeart/2005/8/layout/process1"/>
    <dgm:cxn modelId="{DA24ABE4-B79E-40F6-9AF0-47DCFAB8105D}" srcId="{C1EB2390-642C-4B41-A93F-13BF26444EDE}" destId="{28F18E27-E05C-4264-A5D0-BF57319E47E1}" srcOrd="0" destOrd="0" parTransId="{9D5BF889-E08A-4C6F-B8B7-9A78F8C7A706}" sibTransId="{4368E4C3-7B85-4011-8E85-48A58AC742FA}"/>
    <dgm:cxn modelId="{57468DBD-94C0-4CD9-8BBA-E92C1422361F}" type="presParOf" srcId="{7BAC2316-8045-41EC-9E4A-592441DD351A}" destId="{637FC349-76BF-4074-B171-A7847176527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9317A3-EF07-423F-825F-D04F7A5BA26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FC7B51C-3D1B-4A14-BD2B-E540BCB5E250}">
      <dgm:prSet/>
      <dgm:spPr/>
      <dgm:t>
        <a:bodyPr/>
        <a:lstStyle/>
        <a:p>
          <a:r>
            <a:rPr lang="en-IN" b="1"/>
            <a:t>Theory:</a:t>
          </a:r>
          <a:r>
            <a:rPr lang="en-IN"/>
            <a:t> This is called Composition (a "Has-A" relationship).</a:t>
          </a:r>
        </a:p>
      </dgm:t>
    </dgm:pt>
    <dgm:pt modelId="{BD7D5008-2B44-4B74-A10A-E333DACEF207}" type="parTrans" cxnId="{950E10CA-2B3B-41F4-9FC0-10D8B7A3366C}">
      <dgm:prSet/>
      <dgm:spPr/>
      <dgm:t>
        <a:bodyPr/>
        <a:lstStyle/>
        <a:p>
          <a:endParaRPr lang="en-IN"/>
        </a:p>
      </dgm:t>
    </dgm:pt>
    <dgm:pt modelId="{F7279A85-452B-4414-BB6A-D835898A9141}" type="sibTrans" cxnId="{950E10CA-2B3B-41F4-9FC0-10D8B7A3366C}">
      <dgm:prSet/>
      <dgm:spPr/>
      <dgm:t>
        <a:bodyPr/>
        <a:lstStyle/>
        <a:p>
          <a:endParaRPr lang="en-IN"/>
        </a:p>
      </dgm:t>
    </dgm:pt>
    <dgm:pt modelId="{5B622401-88E6-474E-AA19-4E5D04920CA8}" type="pres">
      <dgm:prSet presAssocID="{979317A3-EF07-423F-825F-D04F7A5BA26C}" presName="Name0" presStyleCnt="0">
        <dgm:presLayoutVars>
          <dgm:dir/>
          <dgm:resizeHandles val="exact"/>
        </dgm:presLayoutVars>
      </dgm:prSet>
      <dgm:spPr/>
    </dgm:pt>
    <dgm:pt modelId="{7173BBD8-66C8-4BB2-90C4-1E994C63FD55}" type="pres">
      <dgm:prSet presAssocID="{8FC7B51C-3D1B-4A14-BD2B-E540BCB5E250}" presName="node" presStyleLbl="node1" presStyleIdx="0" presStyleCnt="1">
        <dgm:presLayoutVars>
          <dgm:bulletEnabled val="1"/>
        </dgm:presLayoutVars>
      </dgm:prSet>
      <dgm:spPr/>
    </dgm:pt>
  </dgm:ptLst>
  <dgm:cxnLst>
    <dgm:cxn modelId="{6460C096-EA2E-471F-9241-3E93A29B8090}" type="presOf" srcId="{8FC7B51C-3D1B-4A14-BD2B-E540BCB5E250}" destId="{7173BBD8-66C8-4BB2-90C4-1E994C63FD55}" srcOrd="0" destOrd="0" presId="urn:microsoft.com/office/officeart/2005/8/layout/process1"/>
    <dgm:cxn modelId="{DB40A8B9-56D7-4893-B8CA-F36807C95C43}" type="presOf" srcId="{979317A3-EF07-423F-825F-D04F7A5BA26C}" destId="{5B622401-88E6-474E-AA19-4E5D04920CA8}" srcOrd="0" destOrd="0" presId="urn:microsoft.com/office/officeart/2005/8/layout/process1"/>
    <dgm:cxn modelId="{950E10CA-2B3B-41F4-9FC0-10D8B7A3366C}" srcId="{979317A3-EF07-423F-825F-D04F7A5BA26C}" destId="{8FC7B51C-3D1B-4A14-BD2B-E540BCB5E250}" srcOrd="0" destOrd="0" parTransId="{BD7D5008-2B44-4B74-A10A-E333DACEF207}" sibTransId="{F7279A85-452B-4414-BB6A-D835898A9141}"/>
    <dgm:cxn modelId="{5E254433-4EF7-4897-AF90-E0B24C2E6364}" type="presParOf" srcId="{5B622401-88E6-474E-AA19-4E5D04920CA8}" destId="{7173BBD8-66C8-4BB2-90C4-1E994C63FD5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3ADFD-3598-4327-A7F9-E4863EAF672C}">
      <dsp:nvSpPr>
        <dsp:cNvPr id="0" name=""/>
        <dsp:cNvSpPr/>
      </dsp:nvSpPr>
      <dsp:spPr>
        <a:xfrm>
          <a:off x="3719" y="0"/>
          <a:ext cx="7609097" cy="3693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Theory: </a:t>
          </a:r>
          <a:r>
            <a:rPr lang="en-IN" sz="1600" kern="1200"/>
            <a:t>The struct keyword allows you to create a Composite Data Type</a:t>
          </a:r>
          <a:r>
            <a:rPr lang="en-IN" sz="1600" b="1" kern="1200"/>
            <a:t>.</a:t>
          </a:r>
          <a:endParaRPr lang="en-IN" sz="1600" kern="1200"/>
        </a:p>
      </dsp:txBody>
      <dsp:txXfrm>
        <a:off x="14536" y="10817"/>
        <a:ext cx="7587463" cy="347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FC349-76BF-4074-B171-A78471765271}">
      <dsp:nvSpPr>
        <dsp:cNvPr id="0" name=""/>
        <dsp:cNvSpPr/>
      </dsp:nvSpPr>
      <dsp:spPr>
        <a:xfrm>
          <a:off x="3719" y="0"/>
          <a:ext cx="7609097" cy="3693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In your code: </a:t>
          </a:r>
          <a:r>
            <a:rPr lang="en-IN" sz="1600" kern="1200"/>
            <a:t>struct Patient is not a variable itself; it is a blueprint (or template).</a:t>
          </a:r>
        </a:p>
      </dsp:txBody>
      <dsp:txXfrm>
        <a:off x="14536" y="10817"/>
        <a:ext cx="7587463" cy="3476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3BBD8-66C8-4BB2-90C4-1E994C63FD55}">
      <dsp:nvSpPr>
        <dsp:cNvPr id="0" name=""/>
        <dsp:cNvSpPr/>
      </dsp:nvSpPr>
      <dsp:spPr>
        <a:xfrm>
          <a:off x="2975" y="0"/>
          <a:ext cx="6088316" cy="3693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Theory:</a:t>
          </a:r>
          <a:r>
            <a:rPr lang="en-IN" sz="1600" kern="1200"/>
            <a:t> This is called Composition (a "Has-A" relationship).</a:t>
          </a:r>
        </a:p>
      </dsp:txBody>
      <dsp:txXfrm>
        <a:off x="13792" y="10817"/>
        <a:ext cx="6066682" cy="347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FAE82-9A34-4E72-B7CA-EF8910CA7F4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65793-9C80-4BCC-B344-042160F24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4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ADDC-F4E0-5E64-10D3-11AA7784B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F6BC1-C924-D118-DA2F-6FC51D297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1C1D7-AB38-7106-29EE-A4879646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19A8-E59A-4E2A-B176-6AF873782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B14A-AEC5-889C-CAB1-030321FF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30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918A-70AF-6817-3EF1-808DF107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3A4E2-7237-B362-2F70-CD99A05F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90466-26B7-62F9-2834-3ED1AE58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CA5E3-1DF2-3FF8-C253-204365F0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289A6-C662-7639-EBC6-C2B935D6F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211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B1CB-19FC-8960-8A28-28231CAF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0074B-6B6B-E476-51A3-A26D0CA5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E9B2-E855-DB8F-4F86-B7C2B4A0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93BDE-77CF-F442-0407-C976262B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854CD-53EB-B297-E4CB-8606A6D7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073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CCF08-AAD4-DD88-AA99-066A112D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5E137-85D4-01D4-E5EC-325D9D0D8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84E22-2B8D-5C70-BD74-827A30C24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03386-DC4C-9E35-CCB0-DBC7EE8E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3E38E-23EC-17AC-7F83-F72F7C6E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A0958-F0A4-FC47-A3C0-81ABFFE2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38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FF5C-6EF8-8186-DBCD-A0E225D1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0C715-F641-4043-DDE7-1A47C0FB0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EB693-F49E-A8B6-EDD3-9899B06A0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D3BDD-F311-4286-EC82-38663F531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C7017-E529-FEEA-2360-E29445A6B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C1CE88-102F-9D0E-144C-8E34D797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1222A-E1A6-DEEB-9561-AD1FB261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37908-3013-D9A3-EB25-E600F027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48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04A3-E0C9-27E4-9C86-9CD29890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834C9-AB6A-6778-6CE6-CE66CF53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F01F6-3E52-626D-8FD7-D0ABB389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127C6-6023-50EC-27F1-5B7584C4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56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02211-D1A0-391F-138D-D0A85F37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B9EFD-F9CA-85F1-B045-2ADDEFC1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B613C-86B2-3298-71A2-3D183671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83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0B9B-A87E-61AA-4609-826DC8EA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10FA2-EF7F-B9EB-941B-D5B2C14E0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B3FFE-D03C-8291-B4FE-1D61D4B5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E5180-05CA-CCA0-F51A-E7B6B802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EBD14-3870-728E-2118-8BC2BE30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75F40-32CD-216C-B78C-5CB8D11D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57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D725-6FF9-BCC5-5A41-C24C986C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CBBDC-64B0-EEB0-271E-B6F6AEB25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2AAD-469D-9A48-42A2-1B4E6CB02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F7858-ECC9-E668-C79C-34370248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C85C1-F338-F4E6-B2AA-5F5E4DAA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84892-06E6-5E93-EF3A-2EBD3452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88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F962-4F94-628F-7F05-3FA1D9D5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818D8-A951-8D5C-DF49-A85817C56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367CB-39CA-EB77-50EE-E43EB81DD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B5ED2-33BD-05DF-C53F-651F80A1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C6FBA-7B99-618A-FE39-E88B6C9D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804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5C06F-3502-DF62-A41E-A5B090A16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4FF92-E5E3-9E3F-C2D6-9060536C0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F27A3-793C-1E55-F085-77C05BC9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B975A-A2A9-D175-5233-D3552AEC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52F62-E6C0-435B-D2C2-D53C005D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260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37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6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5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1BF140-A530-7057-F18C-45455618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363AB-261A-10E4-A452-91C482CD6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76E36-A956-54D0-88A6-1108D15EC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F8A11-7D68-461A-997C-684BAB8DA89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235C8-D9F0-CAAC-7823-4009B7A3B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7CDD1-B5EC-6455-1D39-3BFB519A8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62C03-4AC8-42AC-A117-5FF680A0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63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cdi.commons.gc.cuny.edu/2021/03/24/choosing-the-right-platform-for-your-digital-archive-gc-digital-fellow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41290938@N03/26682786574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blogcued.blogspot.com/2017/02/por-que-trabajar-en-grupo-y-aprender-en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490" y="2313790"/>
            <a:ext cx="11364342" cy="1325639"/>
          </a:xfrm>
        </p:spPr>
        <p:txBody>
          <a:bodyPr anchor="ctr"/>
          <a:lstStyle/>
          <a:p>
            <a:r>
              <a:rPr lang="en-US" dirty="0">
                <a:latin typeface="STXinwei"/>
                <a:ea typeface="Calibri"/>
                <a:cs typeface="Angsana New"/>
              </a:rPr>
              <a:t>                          </a:t>
            </a:r>
            <a:r>
              <a:rPr lang="en-US" b="1" i="1" u="sng" dirty="0">
                <a:latin typeface="STXinwei"/>
                <a:ea typeface="Calibri"/>
                <a:cs typeface="Angsana New"/>
              </a:rPr>
              <a:t>PROJECT-1</a:t>
            </a:r>
            <a:br>
              <a:rPr lang="en-US" b="1" i="1" u="sng" dirty="0">
                <a:latin typeface="STXinwei"/>
                <a:ea typeface="Calibri"/>
                <a:cs typeface="Angsana New"/>
              </a:rPr>
            </a:br>
            <a:r>
              <a:rPr lang="en-US" b="1" i="1" u="sng" dirty="0">
                <a:latin typeface="STXinwei"/>
                <a:ea typeface="Calibri"/>
                <a:cs typeface="Angsana New"/>
              </a:rPr>
              <a:t>      HOSPITAL PATIENT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7885-DA2E-2180-DE8B-A3A5A6245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236" y="2010146"/>
            <a:ext cx="4941771" cy="3200400"/>
          </a:xfrm>
        </p:spPr>
        <p:txBody>
          <a:bodyPr/>
          <a:lstStyle/>
          <a:p>
            <a:r>
              <a:rPr lang="en-US" sz="2800" b="1" u="sng" dirty="0">
                <a:latin typeface="STXinwei"/>
                <a:ea typeface="STXinwei"/>
              </a:rPr>
              <a:t>What is it? </a:t>
            </a:r>
            <a:br>
              <a:rPr lang="en-US" sz="2800" dirty="0">
                <a:latin typeface="STXinwei"/>
                <a:ea typeface="STXinwei"/>
              </a:rPr>
            </a:br>
            <a:r>
              <a:rPr lang="en-US" sz="2800" dirty="0">
                <a:latin typeface="MS Mincho"/>
                <a:ea typeface="+mj-lt"/>
                <a:cs typeface="+mj-lt"/>
              </a:rPr>
              <a:t>It is a </a:t>
            </a:r>
            <a:r>
              <a:rPr lang="en-US" sz="2800" b="1" dirty="0">
                <a:latin typeface="MS Mincho"/>
                <a:ea typeface="+mj-lt"/>
                <a:cs typeface="+mj-lt"/>
              </a:rPr>
              <a:t>digital version</a:t>
            </a:r>
            <a:r>
              <a:rPr lang="en-US" sz="2800" dirty="0">
                <a:latin typeface="MS Mincho"/>
                <a:ea typeface="+mj-lt"/>
                <a:cs typeface="+mj-lt"/>
              </a:rPr>
              <a:t> of a patient’s paper chart.</a:t>
            </a:r>
            <a:br>
              <a:rPr lang="en-US" sz="2800" dirty="0">
                <a:latin typeface="MS Mincho"/>
              </a:rPr>
            </a:br>
            <a:br>
              <a:rPr lang="en-US" sz="2800" dirty="0">
                <a:latin typeface="MS Mincho"/>
                <a:ea typeface="MS Mincho"/>
              </a:rPr>
            </a:br>
            <a:r>
              <a:rPr lang="en-US" sz="2800" dirty="0">
                <a:latin typeface="MS Mincho"/>
                <a:ea typeface="+mj-lt"/>
                <a:cs typeface="+mj-lt"/>
              </a:rPr>
              <a:t>It serves as a </a:t>
            </a:r>
            <a:r>
              <a:rPr lang="en-US" sz="2800" b="1" dirty="0">
                <a:latin typeface="MS Mincho"/>
                <a:ea typeface="+mj-lt"/>
                <a:cs typeface="+mj-lt"/>
              </a:rPr>
              <a:t>central repository</a:t>
            </a:r>
            <a:r>
              <a:rPr lang="en-US" sz="2800" dirty="0">
                <a:latin typeface="MS Mincho"/>
                <a:ea typeface="+mj-lt"/>
                <a:cs typeface="+mj-lt"/>
              </a:rPr>
              <a:t> for everything related to a patient's health journey.</a:t>
            </a:r>
            <a:br>
              <a:rPr lang="en-US" sz="2800" dirty="0">
                <a:latin typeface="MS Mincho"/>
                <a:ea typeface="+mj-lt"/>
                <a:cs typeface="+mj-lt"/>
              </a:rPr>
            </a:br>
            <a:br>
              <a:rPr lang="en-US" sz="2800" dirty="0">
                <a:latin typeface="MS Mincho"/>
                <a:ea typeface="MS Mincho"/>
              </a:rPr>
            </a:br>
            <a:r>
              <a:rPr lang="en-US" sz="2800" dirty="0">
                <a:latin typeface="MS Mincho"/>
                <a:ea typeface="+mj-lt"/>
                <a:cs typeface="+mj-lt"/>
              </a:rPr>
              <a:t>It allows authorized users to access data instantly and securely from different departments.</a:t>
            </a:r>
            <a:br>
              <a:rPr lang="en-US" sz="2800" dirty="0">
                <a:latin typeface="MS Mincho"/>
                <a:ea typeface="MS Mincho"/>
              </a:rPr>
            </a:b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ADCB1-E094-7B50-5BF8-9C45F32B9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63045" y="0"/>
            <a:ext cx="6528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46520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2774373"/>
            <a:ext cx="7782076" cy="1475509"/>
          </a:xfrm>
        </p:spPr>
        <p:txBody>
          <a:bodyPr>
            <a:noAutofit/>
          </a:bodyPr>
          <a:lstStyle/>
          <a:p>
            <a:r>
              <a:rPr lang="en-US" sz="3200">
                <a:latin typeface="MS Mincho"/>
                <a:ea typeface="MS Mincho"/>
                <a:cs typeface="+mj-lt"/>
              </a:rPr>
              <a:t>A Hospital Patient Record System (HPRS) is a digital software platform used by healthcare facilities to electronically store, manage, and retrieve patient health information. It replaces traditional paper files with a centralized, secure database.</a:t>
            </a:r>
            <a:endParaRPr lang="en-US" sz="3200">
              <a:latin typeface="MS Mincho"/>
              <a:ea typeface="MS Mincho"/>
            </a:endParaRPr>
          </a:p>
          <a:p>
            <a:r>
              <a:rPr lang="en-US" sz="3200">
                <a:latin typeface="MS Mincho"/>
                <a:ea typeface="MS Mincho"/>
                <a:cs typeface="+mj-lt"/>
              </a:rPr>
              <a:t>It is often referred to technically as an EHR (Electronic Health Record) or EMR (Electronic Medical Record).</a:t>
            </a:r>
            <a:endParaRPr lang="en-US" sz="3200">
              <a:latin typeface="MS Mincho"/>
              <a:ea typeface="MS Mincho"/>
            </a:endParaRPr>
          </a:p>
          <a:p>
            <a:endParaRPr lang="en-US" sz="3200">
              <a:latin typeface="MS Mincho"/>
              <a:ea typeface="MS Mincho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Ehr Emr Electronic Medical Record · Free vector graphic on Pixabay">
            <a:extLst>
              <a:ext uri="{FF2B5EF4-FFF2-40B4-BE49-F238E27FC236}">
                <a16:creationId xmlns:a16="http://schemas.microsoft.com/office/drawing/2014/main" id="{486937C8-8970-6A2A-0F70-D8739814A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665" y="731459"/>
            <a:ext cx="3556001" cy="558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FA8575-1E3D-4726-C965-983001C98E5D}"/>
              </a:ext>
            </a:extLst>
          </p:cNvPr>
          <p:cNvSpPr txBox="1"/>
          <p:nvPr/>
        </p:nvSpPr>
        <p:spPr>
          <a:xfrm>
            <a:off x="85725" y="197346"/>
            <a:ext cx="609426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u="sng" dirty="0">
                <a:latin typeface="STXinwei"/>
                <a:ea typeface="+mj-lt"/>
                <a:cs typeface="+mj-lt"/>
              </a:rPr>
              <a:t>Why do hospitals invest in this system instead of using paper files?</a:t>
            </a:r>
            <a:br>
              <a:rPr lang="en-US" sz="1800" b="1" i="1" u="sng" dirty="0">
                <a:ea typeface="+mj-lt"/>
                <a:cs typeface="+mj-lt"/>
              </a:rPr>
            </a:br>
            <a:endParaRPr lang="en-US" sz="1800" b="1" i="1" u="sng" dirty="0"/>
          </a:p>
          <a:p>
            <a:pPr marL="285750" indent="-285750">
              <a:buFont typeface="Arial"/>
              <a:buChar char="•"/>
            </a:pPr>
            <a:r>
              <a:rPr lang="en-US" sz="1800" b="1" i="1" u="sng" dirty="0">
                <a:latin typeface="MS Mincho"/>
                <a:ea typeface="+mj-lt"/>
                <a:cs typeface="+mj-lt"/>
              </a:rPr>
              <a:t>Data Centralization:</a:t>
            </a:r>
            <a:r>
              <a:rPr lang="en-US" sz="1800" dirty="0">
                <a:latin typeface="MS Mincho"/>
                <a:ea typeface="+mj-lt"/>
                <a:cs typeface="+mj-lt"/>
              </a:rPr>
              <a:t> It brings together scattered information into one single screen.</a:t>
            </a:r>
            <a:br>
              <a:rPr lang="en-US" sz="1800" dirty="0">
                <a:latin typeface="MS Mincho"/>
                <a:ea typeface="+mj-lt"/>
                <a:cs typeface="+mj-lt"/>
              </a:rPr>
            </a:br>
            <a:endParaRPr lang="en-US" sz="1800" dirty="0">
              <a:latin typeface="MS Mincho"/>
              <a:ea typeface="MS Mincho"/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i="1" u="sng" dirty="0">
                <a:latin typeface="MS Mincho"/>
                <a:ea typeface="+mj-lt"/>
                <a:cs typeface="+mj-lt"/>
              </a:rPr>
              <a:t>Patient Safety (Critical):</a:t>
            </a:r>
            <a:r>
              <a:rPr lang="en-US" sz="1800" dirty="0">
                <a:latin typeface="MS Mincho"/>
                <a:ea typeface="+mj-lt"/>
                <a:cs typeface="+mj-lt"/>
              </a:rPr>
              <a:t> The system can automatically alert doctors if a prescribed medicine will react dangerously with another medicine the patient is taking.</a:t>
            </a:r>
            <a:br>
              <a:rPr lang="en-US" sz="1800" dirty="0">
                <a:latin typeface="MS Mincho"/>
                <a:ea typeface="+mj-lt"/>
                <a:cs typeface="+mj-lt"/>
              </a:rPr>
            </a:br>
            <a:endParaRPr lang="en-US" sz="1800" dirty="0">
              <a:latin typeface="MS Mincho"/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i="1" u="sng" dirty="0">
                <a:latin typeface="MS Mincho"/>
                <a:ea typeface="+mj-lt"/>
                <a:cs typeface="+mj-lt"/>
              </a:rPr>
              <a:t>Legibility:</a:t>
            </a:r>
            <a:r>
              <a:rPr lang="en-US" sz="1800" dirty="0">
                <a:latin typeface="MS Mincho"/>
                <a:ea typeface="+mj-lt"/>
                <a:cs typeface="+mj-lt"/>
              </a:rPr>
              <a:t> It eliminates errors caused by unclear handwriting on paper prescriptions.</a:t>
            </a:r>
            <a:br>
              <a:rPr lang="en-US" sz="1800" dirty="0">
                <a:latin typeface="MS Mincho"/>
                <a:ea typeface="+mj-lt"/>
                <a:cs typeface="+mj-lt"/>
              </a:rPr>
            </a:br>
            <a:endParaRPr lang="en-US" sz="1800" dirty="0">
              <a:latin typeface="MS Mincho"/>
              <a:ea typeface="MS Mincho"/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i="1" u="sng" dirty="0">
                <a:latin typeface="MS Mincho"/>
                <a:ea typeface="+mj-lt"/>
                <a:cs typeface="+mj-lt"/>
              </a:rPr>
              <a:t>Data Security: </a:t>
            </a:r>
            <a:r>
              <a:rPr lang="en-US" sz="1800" dirty="0">
                <a:latin typeface="MS Mincho"/>
                <a:ea typeface="+mj-lt"/>
                <a:cs typeface="+mj-lt"/>
              </a:rPr>
              <a:t>Digital records can be encrypted, password-protected, and backed up to the cloud, unlike paper records which can be lost to fire, water, or theft.</a:t>
            </a:r>
            <a:br>
              <a:rPr lang="en-US" sz="1800" dirty="0">
                <a:latin typeface="MS Mincho"/>
                <a:ea typeface="+mj-lt"/>
                <a:cs typeface="+mj-lt"/>
              </a:rPr>
            </a:br>
            <a:endParaRPr lang="en-US" sz="1800" dirty="0">
              <a:latin typeface="MS Mincho"/>
              <a:ea typeface="MS Mincho"/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i="1" u="sng" dirty="0">
                <a:latin typeface="MS Mincho"/>
                <a:ea typeface="+mj-lt"/>
                <a:cs typeface="+mj-lt"/>
              </a:rPr>
              <a:t>Speed:</a:t>
            </a:r>
            <a:r>
              <a:rPr lang="en-US" sz="1800" dirty="0">
                <a:latin typeface="MS Mincho"/>
                <a:ea typeface="+mj-lt"/>
                <a:cs typeface="+mj-lt"/>
              </a:rPr>
              <a:t> In an emergency, a doctor can pull up a patient's blood group and allergies in seconds, rather than waiting for a clerk to find a physical file.</a:t>
            </a:r>
            <a:endParaRPr lang="en-US" sz="1800" dirty="0">
              <a:latin typeface="MS Mincho"/>
              <a:ea typeface="MS Minch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DF3386-77A0-36F2-C0FD-EBE7FCC62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52681" y="1036251"/>
            <a:ext cx="4387021" cy="457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0846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88" y="1070291"/>
            <a:ext cx="7892502" cy="5287895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i="1" u="sng" dirty="0">
                <a:latin typeface="STXinwei"/>
                <a:ea typeface="STXinwei"/>
              </a:rPr>
              <a:t>The main idea of hospital patient record system are:</a:t>
            </a:r>
            <a:br>
              <a:rPr lang="en-US" sz="2000" b="1" i="1" u="sng" dirty="0">
                <a:latin typeface="STXinwei"/>
                <a:ea typeface="STXinwei"/>
              </a:rPr>
            </a:br>
            <a:br>
              <a:rPr lang="en-US" sz="2000" b="1" i="1" u="sng" dirty="0">
                <a:latin typeface="STXinwei"/>
                <a:ea typeface="STXinwei"/>
              </a:rPr>
            </a:br>
            <a:r>
              <a:rPr lang="en-US" sz="2000" b="1" dirty="0">
                <a:latin typeface="MS Mincho"/>
                <a:ea typeface="MS Mincho"/>
              </a:rPr>
              <a:t>1. </a:t>
            </a:r>
            <a:r>
              <a:rPr lang="en-US" sz="2000" b="1" dirty="0">
                <a:latin typeface="MS Mincho"/>
                <a:ea typeface="+mj-lt"/>
                <a:cs typeface="+mj-lt"/>
              </a:rPr>
              <a:t>Digitization</a:t>
            </a:r>
            <a:endParaRPr lang="en-US" sz="2000" b="1" dirty="0">
              <a:solidFill>
                <a:srgbClr val="000000"/>
              </a:solidFill>
              <a:latin typeface="MS Mincho"/>
              <a:ea typeface="MS Mincho"/>
            </a:endParaRPr>
          </a:p>
          <a:p>
            <a:r>
              <a:rPr lang="en-US" sz="2000" b="1" dirty="0">
                <a:latin typeface="MS Mincho"/>
                <a:ea typeface="+mj-lt"/>
                <a:cs typeface="+mj-lt"/>
              </a:rPr>
              <a:t> </a:t>
            </a:r>
            <a:r>
              <a:rPr lang="en-US" sz="2000" b="1" dirty="0">
                <a:latin typeface="Tenorite"/>
                <a:ea typeface="MS Mincho"/>
                <a:cs typeface="+mj-lt"/>
              </a:rPr>
              <a:t>  </a:t>
            </a:r>
            <a:r>
              <a:rPr lang="en-US" sz="2000" b="1" dirty="0">
                <a:latin typeface="MS Mincho"/>
                <a:ea typeface="MS Mincho"/>
                <a:cs typeface="+mj-lt"/>
              </a:rPr>
              <a:t>2. Centralization (One Patient, One Record).</a:t>
            </a:r>
            <a:br>
              <a:rPr lang="en-US" sz="2000" b="1" dirty="0">
                <a:latin typeface="MS Mincho"/>
                <a:ea typeface="+mj-lt"/>
                <a:cs typeface="+mj-lt"/>
              </a:rPr>
            </a:br>
            <a:r>
              <a:rPr lang="en-US" sz="2000" b="1" dirty="0">
                <a:latin typeface="MS Mincho"/>
                <a:ea typeface="MS Mincho"/>
                <a:cs typeface="+mj-lt"/>
              </a:rPr>
              <a:t>  3. Unique Identification.</a:t>
            </a:r>
            <a:br>
              <a:rPr lang="en-US" sz="2000" b="1" dirty="0">
                <a:latin typeface="MS Mincho"/>
                <a:ea typeface="+mj-lt"/>
                <a:cs typeface="+mj-lt"/>
              </a:rPr>
            </a:br>
            <a:r>
              <a:rPr lang="en-US" sz="2000" b="1" dirty="0">
                <a:latin typeface="MS Mincho"/>
                <a:ea typeface="MS Mincho"/>
                <a:cs typeface="+mj-lt"/>
              </a:rPr>
              <a:t>  4. Instant Accessibility.</a:t>
            </a:r>
            <a:br>
              <a:rPr lang="en-US" sz="2000" b="1" dirty="0">
                <a:latin typeface="MS Mincho"/>
                <a:ea typeface="+mj-lt"/>
                <a:cs typeface="+mj-lt"/>
              </a:rPr>
            </a:br>
            <a:r>
              <a:rPr lang="en-US" sz="2000" b="1" dirty="0">
                <a:latin typeface="MS Mincho"/>
                <a:ea typeface="MS Mincho"/>
                <a:cs typeface="+mj-lt"/>
              </a:rPr>
              <a:t>  5. Interconnectivity.</a:t>
            </a:r>
            <a:br>
              <a:rPr lang="en-US" sz="2000" b="1" dirty="0">
                <a:latin typeface="MS Mincho"/>
                <a:ea typeface="+mj-lt"/>
                <a:cs typeface="+mj-lt"/>
              </a:rPr>
            </a:br>
            <a:r>
              <a:rPr lang="en-US" sz="2000" b="1" dirty="0">
                <a:latin typeface="MS Mincho"/>
                <a:ea typeface="MS Mincho"/>
                <a:cs typeface="+mj-lt"/>
              </a:rPr>
              <a:t>  6. Clinical Safety.</a:t>
            </a:r>
            <a:br>
              <a:rPr lang="en-US" sz="2000" b="1" dirty="0">
                <a:latin typeface="MS Mincho"/>
                <a:ea typeface="+mj-lt"/>
                <a:cs typeface="+mj-lt"/>
              </a:rPr>
            </a:br>
            <a:r>
              <a:rPr lang="en-US" sz="2000" b="1" dirty="0">
                <a:latin typeface="MS Mincho"/>
                <a:ea typeface="MS Mincho"/>
                <a:cs typeface="+mj-lt"/>
              </a:rPr>
              <a:t>  7. Data Security.</a:t>
            </a:r>
            <a:br>
              <a:rPr lang="en-US" sz="2000" b="1" dirty="0">
                <a:latin typeface="MS Mincho"/>
                <a:ea typeface="+mj-lt"/>
                <a:cs typeface="+mj-lt"/>
              </a:rPr>
            </a:br>
            <a:br>
              <a:rPr lang="en-US" sz="2000" dirty="0">
                <a:latin typeface="MS Mincho"/>
                <a:ea typeface="+mj-lt"/>
                <a:cs typeface="+mj-lt"/>
              </a:rPr>
            </a:br>
            <a:br>
              <a:rPr lang="en-US" sz="2000" dirty="0">
                <a:ea typeface="+mj-lt"/>
                <a:cs typeface="+mj-lt"/>
              </a:rPr>
            </a:br>
            <a:br>
              <a:rPr lang="en-US" sz="2000" dirty="0">
                <a:ea typeface="+mj-lt"/>
                <a:cs typeface="+mj-lt"/>
              </a:rPr>
            </a:br>
            <a:br>
              <a:rPr lang="en-US" sz="2000" dirty="0">
                <a:ea typeface="+mj-lt"/>
                <a:cs typeface="+mj-lt"/>
              </a:rPr>
            </a:br>
            <a:br>
              <a:rPr lang="en-US" sz="2000" dirty="0">
                <a:ea typeface="+mj-lt"/>
                <a:cs typeface="+mj-lt"/>
              </a:rPr>
            </a:br>
            <a:br>
              <a:rPr lang="en-US" sz="2000" dirty="0">
                <a:ea typeface="+mj-lt"/>
                <a:cs typeface="+mj-lt"/>
              </a:rPr>
            </a:br>
            <a:endParaRPr lang="en-US" sz="2000" dirty="0">
              <a:ea typeface="+mj-lt"/>
              <a:cs typeface="+mj-lt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9ADD10-9175-CE90-5B33-3F5724908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330696" y="658963"/>
            <a:ext cx="4473273" cy="589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FD10DA8-8EB8-3248-FE02-95342DC553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900531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26828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2148-EB1C-3BEE-E7BB-DE631C642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607" y="-469646"/>
            <a:ext cx="11157996" cy="2387600"/>
          </a:xfrm>
        </p:spPr>
        <p:txBody>
          <a:bodyPr>
            <a:normAutofit/>
          </a:bodyPr>
          <a:lstStyle/>
          <a:p>
            <a:r>
              <a:rPr lang="en-US" sz="3600" b="1" i="1" u="sng" dirty="0">
                <a:latin typeface="STXinwei (bold)"/>
              </a:rPr>
              <a:t>THE CONCEPT OF USER-DEFINED DATA TYPES (STRUCT)</a:t>
            </a:r>
            <a:endParaRPr lang="en-IN" sz="3600" b="1" i="1" u="sng" dirty="0">
              <a:latin typeface="STXinwei (bold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84137-1FC9-6871-5C7B-B217EFF7B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854" y="2074574"/>
            <a:ext cx="7048500" cy="10411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i="1">
                <a:latin typeface="MS Mincho" panose="02020609040205080304" pitchFamily="49" charset="-128"/>
                <a:ea typeface="MS Mincho" panose="02020609040205080304" pitchFamily="49" charset="-128"/>
              </a:rPr>
              <a:t>Standard C data types (int, float, char) are insufficient for complex data. An integer can store a heartbeat, but it cannot store a "Patient."</a:t>
            </a:r>
            <a:endParaRPr lang="en-IN" b="1" i="1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5DF87170-5B4A-2F11-2EC0-2FBE31464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9143066"/>
              </p:ext>
            </p:extLst>
          </p:nvPr>
        </p:nvGraphicFramePr>
        <p:xfrm>
          <a:off x="775854" y="3429000"/>
          <a:ext cx="7616536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8491B7B-5515-B385-84B4-2DDF274C615B}"/>
              </a:ext>
            </a:extLst>
          </p:cNvPr>
          <p:cNvGraphicFramePr/>
          <p:nvPr/>
        </p:nvGraphicFramePr>
        <p:xfrm>
          <a:off x="775854" y="3940525"/>
          <a:ext cx="7616536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FF7589A-8581-17E9-622D-BD5B1B013EE9}"/>
              </a:ext>
            </a:extLst>
          </p:cNvPr>
          <p:cNvSpPr txBox="1"/>
          <p:nvPr/>
        </p:nvSpPr>
        <p:spPr>
          <a:xfrm>
            <a:off x="775854" y="4623097"/>
            <a:ext cx="7616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When you write struct Patient p1; inside main(), you are telling the compiler: "Reserve a block of memory large enough to hold all the fields defined in the Patient blueprint."</a:t>
            </a:r>
          </a:p>
        </p:txBody>
      </p:sp>
    </p:spTree>
    <p:extLst>
      <p:ext uri="{BB962C8B-B14F-4D97-AF65-F5344CB8AC3E}">
        <p14:creationId xmlns:p14="http://schemas.microsoft.com/office/powerpoint/2010/main" val="8498448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9DB24C-5969-D07F-0141-664643B7DC45}"/>
              </a:ext>
            </a:extLst>
          </p:cNvPr>
          <p:cNvSpPr txBox="1"/>
          <p:nvPr/>
        </p:nvSpPr>
        <p:spPr>
          <a:xfrm>
            <a:off x="2621107" y="799190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1" u="sng" dirty="0">
                <a:latin typeface="STXinwei (bold)"/>
              </a:rPr>
              <a:t>Nested Structures(Composition)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A7968-88E4-24E4-15F7-D2C5306618C1}"/>
              </a:ext>
            </a:extLst>
          </p:cNvPr>
          <p:cNvSpPr txBox="1"/>
          <p:nvPr/>
        </p:nvSpPr>
        <p:spPr>
          <a:xfrm>
            <a:off x="948170" y="2021762"/>
            <a:ext cx="65228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This is the most advanced concept in the snippet. You will notice struct Date Address and then used inside struct Patient. are defined outside 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DD9A89A7-B4EE-2E23-D8F6-0D774C54971A}"/>
              </a:ext>
            </a:extLst>
          </p:cNvPr>
          <p:cNvGraphicFramePr/>
          <p:nvPr/>
        </p:nvGraphicFramePr>
        <p:xfrm>
          <a:off x="948170" y="3244334"/>
          <a:ext cx="6094268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0266C82-3898-96AC-D9CB-11C223FDC7BC}"/>
              </a:ext>
            </a:extLst>
          </p:cNvPr>
          <p:cNvSpPr txBox="1"/>
          <p:nvPr/>
        </p:nvSpPr>
        <p:spPr>
          <a:xfrm>
            <a:off x="948170" y="3912908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A Patient has a Name (string).A Patient has a Date of Birth (struct).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CA568-DE0F-2886-57AE-24AD8E2C26D5}"/>
              </a:ext>
            </a:extLst>
          </p:cNvPr>
          <p:cNvSpPr txBox="1"/>
          <p:nvPr/>
        </p:nvSpPr>
        <p:spPr>
          <a:xfrm>
            <a:off x="948170" y="4858481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Why we do it: It promotes Reusability. If you later build a struct Doctor or Appointment, you can reuse the same struct Date without rewriting the day, month, and year logic.</a:t>
            </a:r>
          </a:p>
        </p:txBody>
      </p:sp>
    </p:spTree>
    <p:extLst>
      <p:ext uri="{BB962C8B-B14F-4D97-AF65-F5344CB8AC3E}">
        <p14:creationId xmlns:p14="http://schemas.microsoft.com/office/powerpoint/2010/main" val="1355351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0E0869-719E-2F89-7274-AE8AAC5D923A}"/>
              </a:ext>
            </a:extLst>
          </p:cNvPr>
          <p:cNvSpPr txBox="1"/>
          <p:nvPr/>
        </p:nvSpPr>
        <p:spPr>
          <a:xfrm>
            <a:off x="2491450" y="203086"/>
            <a:ext cx="89559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i="1" u="sng" dirty="0">
                <a:latin typeface="STXinwei (bold)"/>
              </a:rPr>
              <a:t>Memory Layout &amp; Padding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54EC4-BF11-A071-BA1D-26F902536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306" y="1327472"/>
            <a:ext cx="4203055" cy="4203055"/>
          </a:xfrm>
          <a:prstGeom prst="rect">
            <a:avLst/>
          </a:prstGeom>
          <a:effectLst>
            <a:glow rad="406400">
              <a:schemeClr val="tx1">
                <a:alpha val="40000"/>
              </a:schemeClr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6D7C78-E3FC-897A-72DF-700DAB36A39B}"/>
              </a:ext>
            </a:extLst>
          </p:cNvPr>
          <p:cNvSpPr txBox="1"/>
          <p:nvPr/>
        </p:nvSpPr>
        <p:spPr>
          <a:xfrm>
            <a:off x="786596" y="1475289"/>
            <a:ext cx="6366558" cy="646331"/>
          </a:xfrm>
          <a:prstGeom prst="rect">
            <a:avLst/>
          </a:prstGeom>
          <a:noFill/>
          <a:effectLst>
            <a:glow rad="431800">
              <a:schemeClr val="accent1"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When struct Patient p1; is declared, a single continuous block of memory is allocated.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7B56C-EC02-1776-345C-3CE932F6A20F}"/>
              </a:ext>
            </a:extLst>
          </p:cNvPr>
          <p:cNvSpPr txBox="1"/>
          <p:nvPr/>
        </p:nvSpPr>
        <p:spPr>
          <a:xfrm>
            <a:off x="786596" y="2362270"/>
            <a:ext cx="65980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All members (id → name → gender → vitals → etc.) are stored one after another in this block.</a:t>
            </a:r>
          </a:p>
          <a:p>
            <a:endParaRPr lang="en-IN" b="1" i="1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The dot operator (.) works like an offset finder.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1640BD-1F5A-624E-681B-E34D91DD4557}"/>
              </a:ext>
            </a:extLst>
          </p:cNvPr>
          <p:cNvSpPr txBox="1"/>
          <p:nvPr/>
        </p:nvSpPr>
        <p:spPr>
          <a:xfrm>
            <a:off x="744639" y="3758636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For p1.vitals.heartRate, the compiler does:</a:t>
            </a:r>
          </a:p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Start at the base address of p1.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291EDA-BF02-2077-EDFD-B9C539347FA2}"/>
              </a:ext>
            </a:extLst>
          </p:cNvPr>
          <p:cNvSpPr txBox="1"/>
          <p:nvPr/>
        </p:nvSpPr>
        <p:spPr>
          <a:xfrm>
            <a:off x="744639" y="461814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Move to the vitals sub-structure inside p1.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0265BE-5763-C675-49B7-F16997878E06}"/>
              </a:ext>
            </a:extLst>
          </p:cNvPr>
          <p:cNvSpPr txBox="1"/>
          <p:nvPr/>
        </p:nvSpPr>
        <p:spPr>
          <a:xfrm>
            <a:off x="744639" y="5016273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Move further to the heart Rate variable inside vitals.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FF8AC3-0642-6847-96E1-01D4D1C26F10}"/>
              </a:ext>
            </a:extLst>
          </p:cNvPr>
          <p:cNvSpPr txBox="1"/>
          <p:nvPr/>
        </p:nvSpPr>
        <p:spPr>
          <a:xfrm>
            <a:off x="744639" y="5718817"/>
            <a:ext cx="10343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Memory padding may be added by the compiler to maintain alignment and fast access.</a:t>
            </a:r>
          </a:p>
        </p:txBody>
      </p:sp>
    </p:spTree>
    <p:extLst>
      <p:ext uri="{BB962C8B-B14F-4D97-AF65-F5344CB8AC3E}">
        <p14:creationId xmlns:p14="http://schemas.microsoft.com/office/powerpoint/2010/main" val="20902763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F3F7A6-4A11-1DFE-9F74-9B3C68719A35}"/>
              </a:ext>
            </a:extLst>
          </p:cNvPr>
          <p:cNvSpPr txBox="1"/>
          <p:nvPr/>
        </p:nvSpPr>
        <p:spPr>
          <a:xfrm>
            <a:off x="2573788" y="156259"/>
            <a:ext cx="912637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800" b="1" i="1" u="sng" dirty="0">
                <a:latin typeface="STXinwei (bold)"/>
              </a:rPr>
              <a:t>STRING HANDLING IN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37194-4032-D06A-2EE1-E06181F1F3B2}"/>
              </a:ext>
            </a:extLst>
          </p:cNvPr>
          <p:cNvSpPr txBox="1"/>
          <p:nvPr/>
        </p:nvSpPr>
        <p:spPr>
          <a:xfrm>
            <a:off x="6643868" y="1503963"/>
            <a:ext cx="50032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Code: </a:t>
            </a:r>
            <a:r>
              <a:rPr lang="en-IN" sz="2000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char name[100];</a:t>
            </a:r>
          </a:p>
          <a:p>
            <a:endParaRPr lang="en-IN" sz="2000" b="1" i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lang="en-IN" sz="20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Theory: </a:t>
            </a:r>
            <a:r>
              <a:rPr lang="en-IN" sz="2000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In C, strings are static arrays of characters.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9735A-AAD9-9520-766C-94C11EE790C0}"/>
              </a:ext>
            </a:extLst>
          </p:cNvPr>
          <p:cNvSpPr txBox="1"/>
          <p:nvPr/>
        </p:nvSpPr>
        <p:spPr>
          <a:xfrm>
            <a:off x="6696875" y="3259934"/>
            <a:ext cx="5056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We used strcpy (p1.name, "Alice Smith"); . You cannot do 1.name = "Alice Smith"; because arrays in C are not assignable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720206-350A-516B-BE56-13E77E72E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0095"/>
            <a:ext cx="6010195" cy="5411645"/>
          </a:xfrm>
          <a:prstGeom prst="rect">
            <a:avLst/>
          </a:prstGeom>
          <a:effectLst>
            <a:glow rad="431800">
              <a:schemeClr val="accent1">
                <a:alpha val="40000"/>
              </a:schemeClr>
            </a:glow>
            <a:reflection blurRad="1257300" stA="91000" endPos="65000" dist="508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A008A2-8F2C-46EB-120F-5461EF872D5A}"/>
              </a:ext>
            </a:extLst>
          </p:cNvPr>
          <p:cNvSpPr txBox="1"/>
          <p:nvPr/>
        </p:nvSpPr>
        <p:spPr>
          <a:xfrm>
            <a:off x="6643868" y="4621101"/>
            <a:ext cx="51623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latin typeface="MS Mincho" panose="02020609040205080304" pitchFamily="49" charset="-128"/>
                <a:ea typeface="MS Mincho" panose="02020609040205080304" pitchFamily="49" charset="-128"/>
              </a:rPr>
              <a:t>via the = operator after declaration. You must copy the memory content byte-by-byte, which is what strcpy (String Copy) does.</a:t>
            </a:r>
          </a:p>
        </p:txBody>
      </p:sp>
    </p:spTree>
    <p:extLst>
      <p:ext uri="{BB962C8B-B14F-4D97-AF65-F5344CB8AC3E}">
        <p14:creationId xmlns:p14="http://schemas.microsoft.com/office/powerpoint/2010/main" val="18981441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445F56-1B71-D9ED-9DE9-CFE00D5FEF9C}"/>
              </a:ext>
            </a:extLst>
          </p:cNvPr>
          <p:cNvSpPr txBox="1"/>
          <p:nvPr/>
        </p:nvSpPr>
        <p:spPr>
          <a:xfrm>
            <a:off x="366279" y="2755901"/>
            <a:ext cx="72502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When you call display Patient (p1), the program creates a copy of the entire p1 structure and hands it to the function.</a:t>
            </a:r>
          </a:p>
          <a:p>
            <a:endParaRPr lang="en-IN" b="1" i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lang="en-IN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Implication:</a:t>
            </a:r>
            <a:r>
              <a:rPr lang="en-IN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 If the function modifies p, it changes the copy, not the original p1 in main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E35B9-9B94-1074-2FA5-BA528B05A98C}"/>
              </a:ext>
            </a:extLst>
          </p:cNvPr>
          <p:cNvSpPr txBox="1"/>
          <p:nvPr/>
        </p:nvSpPr>
        <p:spPr>
          <a:xfrm>
            <a:off x="366278" y="4934950"/>
            <a:ext cx="72502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Performance Note:</a:t>
            </a:r>
            <a:r>
              <a:rPr lang="en-IN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 For very large structures (e.g., if a patient had a massive MRI image buffer), passing by value is slow because it copies too much data. In professional systems, we pass by Reference (using Pointers) to avoid this overhead.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2BA3D-586C-45B3-2612-0786274ECC0F}"/>
              </a:ext>
            </a:extLst>
          </p:cNvPr>
          <p:cNvSpPr txBox="1"/>
          <p:nvPr/>
        </p:nvSpPr>
        <p:spPr>
          <a:xfrm>
            <a:off x="366279" y="1339201"/>
            <a:ext cx="75256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Code:</a:t>
            </a:r>
            <a:r>
              <a:rPr lang="en-IN" sz="2400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 void display Patient(struct Patient p)</a:t>
            </a:r>
          </a:p>
          <a:p>
            <a:endParaRPr lang="en-IN" sz="2400" b="1" i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lang="en-IN" sz="24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Theory:</a:t>
            </a:r>
            <a:r>
              <a:rPr lang="en-IN" sz="2400" b="1" i="1" dirty="0">
                <a:latin typeface="MS Mincho" panose="02020609040205080304" pitchFamily="49" charset="-128"/>
                <a:ea typeface="MS Mincho" panose="02020609040205080304" pitchFamily="49" charset="-128"/>
              </a:rPr>
              <a:t> This uses Pass-by-Value.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C251FE-1392-AA04-80C0-3127BA6EDC28}"/>
              </a:ext>
            </a:extLst>
          </p:cNvPr>
          <p:cNvSpPr txBox="1"/>
          <p:nvPr/>
        </p:nvSpPr>
        <p:spPr>
          <a:xfrm>
            <a:off x="2090889" y="445722"/>
            <a:ext cx="91105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800" b="1" i="1" u="sng" dirty="0">
                <a:latin typeface="STXinwei (bold)"/>
              </a:rPr>
              <a:t>PASSING STRUCTURES TO FUNCTIONS</a:t>
            </a:r>
          </a:p>
        </p:txBody>
      </p:sp>
    </p:spTree>
    <p:extLst>
      <p:ext uri="{BB962C8B-B14F-4D97-AF65-F5344CB8AC3E}">
        <p14:creationId xmlns:p14="http://schemas.microsoft.com/office/powerpoint/2010/main" val="118719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47AA13-1C64-C477-040C-578361312A6E}"/>
              </a:ext>
            </a:extLst>
          </p:cNvPr>
          <p:cNvSpPr txBox="1"/>
          <p:nvPr/>
        </p:nvSpPr>
        <p:spPr>
          <a:xfrm rot="20297611">
            <a:off x="25755" y="1324026"/>
            <a:ext cx="74606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b="1" i="1" u="sng">
                <a:latin typeface="STXinwei" panose="02010800040101010101" pitchFamily="2" charset="-122"/>
                <a:ea typeface="STXinwei" panose="02010800040101010101" pitchFamily="2" charset="-122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6A187-B859-BC51-5039-76AA03E20D00}"/>
              </a:ext>
            </a:extLst>
          </p:cNvPr>
          <p:cNvSpPr txBox="1"/>
          <p:nvPr/>
        </p:nvSpPr>
        <p:spPr>
          <a:xfrm>
            <a:off x="3384497" y="2825829"/>
            <a:ext cx="873187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TEAM MEMBERS:</a:t>
            </a:r>
          </a:p>
          <a:p>
            <a:endParaRPr lang="en-IN" sz="3600" b="1" i="1" u="sng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6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ADABALA ANJALI-25A31A04J4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6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AKELLA AKSHAYA-25A31A04J5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6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ANGADI BHAGYA SWAMI-25A31A04M1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600" b="1" i="1" u="sng" dirty="0">
                <a:latin typeface="MS Mincho" panose="02020609040205080304" pitchFamily="49" charset="-128"/>
                <a:ea typeface="MS Mincho" panose="02020609040205080304" pitchFamily="49" charset="-128"/>
              </a:rPr>
              <a:t>ARIGELA JOSHI ADITYA RAM-25A31A04M2</a:t>
            </a:r>
          </a:p>
        </p:txBody>
      </p:sp>
    </p:spTree>
    <p:extLst>
      <p:ext uri="{BB962C8B-B14F-4D97-AF65-F5344CB8AC3E}">
        <p14:creationId xmlns:p14="http://schemas.microsoft.com/office/powerpoint/2010/main" val="35794431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860</Words>
  <Application>Microsoft Office PowerPoint</Application>
  <PresentationFormat>Widescreen</PresentationFormat>
  <Paragraphs>59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MS Mincho</vt:lpstr>
      <vt:lpstr>STXinwei</vt:lpstr>
      <vt:lpstr>Arial</vt:lpstr>
      <vt:lpstr>Calibri</vt:lpstr>
      <vt:lpstr>Calibri Light</vt:lpstr>
      <vt:lpstr>STXinwei (bold)</vt:lpstr>
      <vt:lpstr>Tenorite</vt:lpstr>
      <vt:lpstr>Wingdings</vt:lpstr>
      <vt:lpstr>Office Theme</vt:lpstr>
      <vt:lpstr>                          PROJECT-1       HOSPITAL PATIENT MANAGEMENT SYSTEM</vt:lpstr>
      <vt:lpstr>What is it?  It is a digital version of a patient’s paper chart.  It serves as a central repository for everything related to a patient's health journey.  It allows authorized users to access data instantly and securely from different departments. </vt:lpstr>
      <vt:lpstr>A Hospital Patient Record System (HPRS) is a digital software platform used by healthcare facilities to electronically store, manage, and retrieve patient health information. It replaces traditional paper files with a centralized, secure database. It is often referred to technically as an EHR (Electronic Health Record) or EMR (Electronic Medical Record). </vt:lpstr>
      <vt:lpstr>PowerPoint Presentation</vt:lpstr>
      <vt:lpstr>The main idea of hospital patient record system are:  1. Digitization    2. Centralization (One Patient, One Record).   3. Unique Identification.   4. Instant Accessibility.   5. Interconnectivity.   6. Clinical Safety.   7. Data Security.       </vt:lpstr>
      <vt:lpstr>PowerPoint Presentation</vt:lpstr>
      <vt:lpstr>THE CONCEPT OF USER-DEFINED DATA TYPES (STRUCT)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saikrishna23090@outlook.com</dc:creator>
  <cp:lastModifiedBy>saikrishna23090@outlook.com</cp:lastModifiedBy>
  <cp:revision>3</cp:revision>
  <dcterms:created xsi:type="dcterms:W3CDTF">2025-12-10T09:24:13Z</dcterms:created>
  <dcterms:modified xsi:type="dcterms:W3CDTF">2025-12-11T16:52:01Z</dcterms:modified>
</cp:coreProperties>
</file>